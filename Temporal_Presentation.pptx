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Top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47520" rIns="171360" bIns="475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HeroCard"/>
          <p:cNvSpPr/>
          <p:nvPr/>
        </p:nvSpPr>
        <p:spPr>
          <a:xfrm>
            <a:off x="666720" y="762120"/>
            <a:ext cx="10858320" cy="5333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0" tIns="419040" rIns="457200" bIns="380880" anchor="t">
            <a:noAutofit/>
          </a:bodyPr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ru-RU" sz="13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TEMPORAL • DURABLE EXECUTION PLATFORM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ru-RU" sz="3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Temporal: Надёжное выполнение кода и оркестрация процессов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801"/>
              </a:spcAft>
            </a:pPr>
            <a:r>
              <a:rPr lang="ru-RU" sz="16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От простого объяснения «на пальцах» до боевой архитектуры на Java 25 и Spring Boot 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4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Почему обычные сервисы теряют состояние при сбоях и как работает Event History + Replay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4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Все сущности: Workflows, Activities, Workers, Task Queues, Signals, Queries, Updates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4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Продвинутые паттерны: Таймеры, Гонка задач (Promise.anyOf), Heartbeats, TaskToken и Saga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4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• Живой демо-стенд в проекте: пакет com.example.temporal.showcase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ПРОБЛЕМА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2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Игра без точек сохранения (Save Points)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Представьте видеоигру из 10 уровней: на 9-м уровне мигнул свет — и вы начинаете с 1-го уровня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LeftBad"/>
          <p:cNvSpPr/>
          <p:nvPr/>
        </p:nvSpPr>
        <p:spPr>
          <a:xfrm>
            <a:off x="476280" y="1476360"/>
            <a:ext cx="542880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800" b="1" u="none" strike="noStrike">
                <a:solidFill>
                  <a:srgbClr val="FCA5A5"/>
                </a:solidFill>
                <a:effectLst/>
                <a:uFillTx/>
                <a:latin typeface="Segoe UI"/>
                <a:ea typeface="Segoe UI"/>
              </a:rPr>
              <a:t>❌ Обычное приложение без Temporal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1. Списали деньги с карты клиента ($100) — ОК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2. Забронировали товар на складе — ОК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3. Ждём 15 минут подтверждения курьера...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ru-RU" sz="1300" b="1" u="none" strike="noStrike">
                <a:solidFill>
                  <a:srgbClr val="F87171"/>
                </a:solidFill>
                <a:effectLst/>
                <a:uFillTx/>
                <a:latin typeface="Segoe UI"/>
                <a:ea typeface="Segoe UI"/>
              </a:rPr>
              <a:t>💥 СБОЙ: Контейнер перезагрузился или отвалилась сеть!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Что произошло?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Все локальные переменные в оперативной памяти стёрлись.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Таймер ожидания бесследно пропал.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Деньги списаны, склад заморожен, а курьера никто не вызвал.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• Разработчикам приходится городить таблицы статусов, очереди, cron-сверки и ручное восстановление.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RightGood"/>
          <p:cNvSpPr/>
          <p:nvPr/>
        </p:nvSpPr>
        <p:spPr>
          <a:xfrm>
            <a:off x="6286680" y="1476360"/>
            <a:ext cx="542880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8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✅ То же приложение с Temporal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Temporal — это автоматическая система Save Points для кода!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Вы пишете бизнес-процесс как обычную функцию сверху вниз.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За кулисами каждый завершённый шаг сохраняется в неизменяемый дневник — Event History в базе данных.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• Если сервер упадёт и включится через неделю: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  1. Новый воркер читает Event History.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  2. Уже сделанные шаги (списание денег, склад) НЕ выполняются повторно — их результаты мгновенно берутся из дневника.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  3. Выполнение продолжается ровно с той строчки кода, где прервалось!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ОПРЕДЕЛЕНИЕ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3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Что такое Temporal? (3 уровня определения)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Как объяснить Temporal бизнесу, инженерам и на архитектурном ревью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Def1"/>
          <p:cNvSpPr/>
          <p:nvPr/>
        </p:nvSpPr>
        <p:spPr>
          <a:xfrm>
            <a:off x="476280" y="1476360"/>
            <a:ext cx="11239200" cy="1428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1. Официальное определение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400" b="0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Temporal — это open-source платформа надёжного выполнения кода (Durable Execution Platform) и оркестратор распределённых бизнес-процессов (Workflow Orchestration Engine), гарантирующий, что приложение выполнит бизнес-логику до конца без потери состояния даже при сбоях серверов, сети или внешних сервисов.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Def2"/>
          <p:cNvSpPr/>
          <p:nvPr/>
        </p:nvSpPr>
        <p:spPr>
          <a:xfrm>
            <a:off x="476280" y="3095640"/>
            <a:ext cx="11239200" cy="1571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2. Инженерное (архитектурное) определение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Это распределённый движок стейт-машин на базе паттерна Event Sourcing, который выносит управление состоянием процесса, очередями задач, персистентными таймерами и политиками повторных попыток (Retries) на уровень инфраструктуры. Разработчики описывают сложные асинхронные процессы и Saga-транзакции как обычный код (Java, Go, Python, TS), без рисования хрупких BPMN/YAML/JSON-схем.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Def3"/>
          <p:cNvSpPr/>
          <p:nvPr/>
        </p:nvSpPr>
        <p:spPr>
          <a:xfrm>
            <a:off x="476280" y="4857840"/>
            <a:ext cx="11239200" cy="133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3. В одну фразу (суть концепции)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Temporal — это «неубиваемая виртуальная среда выполнения», которая превращает обычные функции в коде в долгоживущие отказоустойчивые процессы, способные работать секунды, дни или годы.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МЕХАНИКА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4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Как работает Event History и механизм Replay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Точное соответствие между шагами в коде (Шаги 1–3) и записями в журнале (События #1–#6)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CodeBox"/>
          <p:cNvSpPr/>
          <p:nvPr/>
        </p:nvSpPr>
        <p:spPr>
          <a:xfrm>
            <a:off x="476280" y="1476360"/>
            <a:ext cx="5333760" cy="4762080"/>
          </a:xfrm>
          <a:prstGeom prst="roundRect">
            <a:avLst>
              <a:gd name="adj" fmla="val 6000"/>
            </a:avLst>
          </a:prstGeom>
          <a:solidFill>
            <a:srgbClr val="090D16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// Код Workflow на Java (3 бизнес-шага):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30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public OrderResponse processOrder(Order req) {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  // ШАГ 1: Списание оплаты (События #2 и #3)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30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  boolean paid = activities.charge(req);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// ШАГ 2: Таймер на 7 дней (События #4 и #5)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300" b="1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Workflow.sleep(Duration.ofDays(7));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// ШАГ 3: Отправка письма (Событие #6)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300" b="1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activities.sendEmail(req.email());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30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return new OrderResponse("COMPLETED");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</a:pPr>
            <a:r>
              <a:rPr lang="ru-RU" sz="130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300" b="1" u="none" strike="noStrike">
                <a:solidFill>
                  <a:srgbClr val="FBBF24"/>
                </a:solidFill>
                <a:effectLst/>
                <a:uFillTx/>
                <a:latin typeface="Segoe UI"/>
                <a:ea typeface="Segoe UI"/>
              </a:rPr>
              <a:t>⚠️ Правило Детерминизма: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Чтобы Replay всегда совпадал с Event History, внутри Workflow нельзя ходить в сеть напрямую или вызывать Thread.sleep().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HistoryBox"/>
          <p:cNvSpPr/>
          <p:nvPr/>
        </p:nvSpPr>
        <p:spPr>
          <a:xfrm>
            <a:off x="6048360" y="1476360"/>
            <a:ext cx="566712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📜 Журнал Event History в БД сервера: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1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Событие #1: WorkflowExecutionStarted (вход: req)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150" b="0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Событие #2: ActivityTaskScheduled -&gt; старт ШАГА 1 (charge)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150" b="1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Событие #3: ActivityTaskCompleted -&gt; итог ШАГА 1 (paid = true)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1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Событие #4: TimerStarted -&gt; старт ШАГА 2 (таймер 7 дней)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1" u="none" strike="noStrike">
                <a:solidFill>
                  <a:srgbClr val="F87171"/>
                </a:solidFill>
                <a:effectLst/>
                <a:uFillTx/>
                <a:latin typeface="Segoe UI"/>
                <a:ea typeface="Segoe UI"/>
              </a:rPr>
              <a:t>💥 На 3-й день сервер с воркером упал и перезагрузился!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150" b="1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Событие #5: TimerFired -&gt; на 7-й день завершился ШАГ 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🔄 Что делает новый Worker при Replay: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2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1. Получив Событие #5, воркер читает метод processOrder() сначала.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2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2. ШАГ 1 (charge): видит Событие #3 в истории -&gt; НЕ вызывает банк повторно, а сразу подставляет paid = true!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ru-RU" sz="1200" b="0" u="none" strike="noStrike">
                <a:solidFill>
                  <a:srgbClr val="FDE68A"/>
                </a:solidFill>
                <a:effectLst/>
                <a:uFillTx/>
                <a:latin typeface="Segoe UI"/>
                <a:ea typeface="Segoe UI"/>
              </a:rPr>
              <a:t>3. ШАГ 2 (sleep): видит Событие #5 (TimerFired) -&gt; таймер уже истёк, идёт дальше без ожидания.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4. ШАГ 3 (sendEmail): в истории ещё нет События #6 -&gt; реально выполняет отправку письма!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АРХИТЕКТУРА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5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Иерархия сущностей: кто внутри кого живёт?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Сам Temporal Server никогда не выполняет ваш код — весь бизнес-код крутится внутри ваших Workers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Col1"/>
          <p:cNvSpPr/>
          <p:nvPr/>
        </p:nvSpPr>
        <p:spPr>
          <a:xfrm>
            <a:off x="47628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7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🏛️ 1. Temporal Cluster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Сервер оркестрации + БД (PostgreSQL / Cassandra).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📂 Namespace ('default')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Изолированная «комната» проекта со своими настройками хранения истории и правами доступа.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🗓️ Schedules (Расписания)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Серверные будильники для периодического автозапуска процессов.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📋 Task Queue (Очередь задач)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Динамическая именованная очередь ('ShowcaseTaskQueue'), связывающая сервер и воркеры.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Col2"/>
          <p:cNvSpPr/>
          <p:nvPr/>
        </p:nvSpPr>
        <p:spPr>
          <a:xfrm>
            <a:off x="430524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7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🎬 2. Workflow Execution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Конкретный запущенный экземпляр сценария (WorkflowId + RunId).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📜 Event History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Полный неизменяемый журнал всех событий этого запуска.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📡 Внешние каналы связи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Входящие Signals, синхронные Queries и валидируемые Updates.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🧩 Порождаемые команды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Вызовы Activities, серверные Durable Timers и дочерние Child Workflows.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Col3"/>
          <p:cNvSpPr/>
          <p:nvPr/>
        </p:nvSpPr>
        <p:spPr>
          <a:xfrm>
            <a:off x="814392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7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👷 3. Worker Process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Ваше Spring Boot приложение. Само опрашивает Task Queue по gRPC (Long Polling).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🧠 Workflow Worker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Выполняет детерминированный код @WorkflowImpl и принимает решения о следующих шагах.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🛠️ Activity Worker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Выполняет код @ActivityImpl: ходит в БД, внешние API, брокеры сообщений.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📈 Масштабирование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Можно поднять 20 копий приложения — они автоматически поделят нагрузку из очереди.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БАЗОВЫЕ БЛОКИ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6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Главные роли: Workflow, Activity, Local Activity и Worker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Разделение между детерминированной оркестрацией и побочными эффектами реального мира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Card6_0"/>
          <p:cNvSpPr/>
          <p:nvPr/>
        </p:nvSpPr>
        <p:spPr>
          <a:xfrm>
            <a:off x="476280" y="147636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🎬 Workflow (@WorkflowInterface)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i="1" u="none" strike="noStrike">
                <a:solidFill>
                  <a:srgbClr val="6366F1"/>
                </a:solidFill>
                <a:effectLst/>
                <a:uFillTx/>
                <a:latin typeface="Segoe UI"/>
                <a:ea typeface="Segoe UI"/>
              </a:rPr>
              <a:t>Аналогия: Режиссёр со сценарием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Описывает последовательность шагов и хранит переменные состояния.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Обязан быть детерминированным.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Создаётся через @WorkflowImpl(taskQueues = ...).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Card6_1"/>
          <p:cNvSpPr/>
          <p:nvPr/>
        </p:nvSpPr>
        <p:spPr>
          <a:xfrm>
            <a:off x="6238800" y="147636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🛠️ Activity (@ActivityInterface)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i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Аналогия: Каскадёр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Выполняет любые сетевые вызовы, SQL-запросы, работу с файлами.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Автоматически повторяется при ошибках согласно RetryOptions (backoff, maxAttempts).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Поддерживает NonRetryable ошибки для мгновенной остановки.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Card6_2"/>
          <p:cNvSpPr/>
          <p:nvPr/>
        </p:nvSpPr>
        <p:spPr>
          <a:xfrm>
            <a:off x="476280" y="395280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⚡ Local Activity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i="1" u="none" strike="noStrike">
                <a:solidFill>
                  <a:srgbClr val="F59E0B"/>
                </a:solidFill>
                <a:effectLst/>
                <a:uFillTx/>
                <a:latin typeface="Segoe UI"/>
                <a:ea typeface="Segoe UI"/>
              </a:rPr>
              <a:t>Аналогия: Быстрый помощник под рукой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Выполняется прямо в памяти того же процесса воркера без записи задачи в очередь Matching Service.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Идеальна для сверхбыстрых локальных проверок и криптографии (задержка &lt; 1 мс).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Card6_3"/>
          <p:cNvSpPr/>
          <p:nvPr/>
        </p:nvSpPr>
        <p:spPr>
          <a:xfrm>
            <a:off x="6238800" y="395280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👷 Worker &amp; Task Queue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i="1" u="none" strike="noStrike">
                <a:solidFill>
                  <a:srgbClr val="10B981"/>
                </a:solidFill>
                <a:effectLst/>
                <a:uFillTx/>
                <a:latin typeface="Segoe UI"/>
                <a:ea typeface="Segoe UI"/>
              </a:rPr>
              <a:t>Аналогия: Повар на кухне и доска заказов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В Spring Boot создаётся автоматически через workers-auto-discovery.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Вычитывает задачи из Task Queue, выполняет код и отправляет результат на сервер.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ИНТЕРАКТИВНОСТЬ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7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Три способа общения с живым Workflow: Signal, Query, Update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Как передать данные в работающий процесс или прочитать его состояние на лету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igCard"/>
          <p:cNvSpPr/>
          <p:nvPr/>
        </p:nvSpPr>
        <p:spPr>
          <a:xfrm>
            <a:off x="47628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700" b="1" u="none" strike="noStrike">
                <a:solidFill>
                  <a:srgbClr val="FBBF24"/>
                </a:solidFill>
                <a:effectLst/>
                <a:uFillTx/>
                <a:latin typeface="Segoe UI"/>
                <a:ea typeface="Segoe UI"/>
              </a:rPr>
              <a:t>🔔 1. Signal (@SignalMethod)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«Записка под дверь»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Направление: Вход (асинхронный, fire-and-forget).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• Меняет состояние: ДА.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300" b="0" u="none" strike="noStrike">
                <a:solidFill>
                  <a:srgbClr val="FCA5A5"/>
                </a:solidFill>
                <a:effectLst/>
                <a:uFillTx/>
                <a:latin typeface="Segoe UI"/>
                <a:ea typeface="Segoe UI"/>
              </a:rPr>
              <a:t>• Возвращает ответ: НЕТ (void).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Когда использовать: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Внешнее событие: пришёл вебхук оплаты от банка или модератор нажал кнопку «Подтвердить». Досрочно пробуждает Workflow.await().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QryCard"/>
          <p:cNvSpPr/>
          <p:nvPr/>
        </p:nvSpPr>
        <p:spPr>
          <a:xfrm>
            <a:off x="430524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7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🔍 2. Query (@QueryMethod)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«Взгляд в бинокль»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Направление: Выход (синхронное чтение).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FCA5A5"/>
                </a:solidFill>
                <a:effectLst/>
                <a:uFillTx/>
                <a:latin typeface="Segoe UI"/>
                <a:ea typeface="Segoe UI"/>
              </a:rPr>
              <a:t>• Меняет состояние: НЕТ (строго Read-Only).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• Возвращает ответ: ДА (объект состояния).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Когда использовать: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Отобразить на фронтенде текущий этап, прогресс и накопленный лог шагов. Работает даже на уже завершённых Workflow!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UpdCard"/>
          <p:cNvSpPr/>
          <p:nvPr/>
        </p:nvSpPr>
        <p:spPr>
          <a:xfrm>
            <a:off x="814392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7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🔄 3. Update (@UpdateMethod)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«Диалог по рации с охраной»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Направление: Вход + Выход (синхронный).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• Меняет состояние: ДА.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• Возвращает ответ: ДА (или ошибку валидации).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Защита валидатором: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@UpdateValidatorMethod проверяет запрос ДО записи в Event History (например, запрещает уводить бюджет в минус).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ПОТОК ВЫПОЛНЕНИЯ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8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Персистентные таймеры, параллельность и гонка задач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Как ждать неделями без блокировки потоков и выбирать самого быстрого провайдера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imersBox"/>
          <p:cNvSpPr/>
          <p:nvPr/>
        </p:nvSpPr>
        <p:spPr>
          <a:xfrm>
            <a:off x="476280" y="1476360"/>
            <a:ext cx="542880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7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⏰ Durable Timers (Неубиваемые будильники)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Workflow.sleep(Duration.ofDays(30)) сохраняет таймер в БД сервера Temporal.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Потоки ОС на воркере НЕ блокируются — все воркеры можно вообще выключить на 29 дней.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⏳ Ожидание условия с таймаутом (Workflow.await):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boolean ok = Workflow.await(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  Duration.ofSeconds(8),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  () -&gt; approvedBySignal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Если сигнал пришёл за 2 секунды — просыпаемся сразу!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Если за 8 секунд сигнала нет — идём по ветке таймаута.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RaceBox"/>
          <p:cNvSpPr/>
          <p:nvPr/>
        </p:nvSpPr>
        <p:spPr>
          <a:xfrm>
            <a:off x="6286680" y="1476360"/>
            <a:ext cx="542880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7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🏁 Гонка задач (Promise.anyOf + CancellationScope)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30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Задача: Опросить 3 службы доставки параллельно, выбрать самую быструю и отменить остальные.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CancellationScope scope = Workflow.newCancellationScope(() -&gt; 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list.add(Async.function(act::quote, "FastExpress", 700));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list.add(Async.function(act::quote, "CityPost", 1800));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list.add(Async.function(act::quote, "SlowCargo", 3000));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scope.run();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String winner = Promise.anyOf(list).get();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15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scope.cancel("Другой ответил быстрее!");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🥇 Победитель FastExpress (700 мс) принят в работу, а CityPost и SlowCargo получают сигнал отмены через Heartbeat!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ПРОДВИНУТЫЕ МЕХАНИКИ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9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Child Workflows, Heartbeats и Async Activity Completion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Декомпозиция процессов, закладки прогресса и ожидание внешних систем по TaskToken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Ch1"/>
          <p:cNvSpPr/>
          <p:nvPr/>
        </p:nvSpPr>
        <p:spPr>
          <a:xfrm>
            <a:off x="47628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7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👶 1. Child Workflows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«Мини-квест со своим дневником»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Запускается из родительского Workflow через newChildWorkflowStub.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Имеет собственную Event History (не перегружает историю родителя).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Управляется через ParentClosePolicy (TERMINATE, ABANDON, REQUEST_CANCEL).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Ch2"/>
          <p:cNvSpPr/>
          <p:nvPr/>
        </p:nvSpPr>
        <p:spPr>
          <a:xfrm>
            <a:off x="430524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700" b="1" u="none" strike="noStrike">
                <a:solidFill>
                  <a:srgbClr val="FBBF24"/>
                </a:solidFill>
                <a:effectLst/>
                <a:uFillTx/>
                <a:latin typeface="Segoe UI"/>
                <a:ea typeface="Segoe UI"/>
              </a:rPr>
              <a:t>💓 2. Heartbeats &amp; Checkpoints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«Пульс и закладка в книге»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Долгая Activity периодически вызывает ctx.heartbeat(currentStep).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Если воркер упал на шаге 3/4 (75%), при ретрае он читает ctx.getHeartbeatDetails(Integer.class).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• Работа продолжается с 75%, а не с нуля!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Ch3"/>
          <p:cNvSpPr/>
          <p:nvPr/>
        </p:nvSpPr>
        <p:spPr>
          <a:xfrm>
            <a:off x="8143920" y="1476360"/>
            <a:ext cx="357156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7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🎟️ 3. Async Completion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0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Аналогия: «Номерок из химчистки»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Activity сохраняет byte[] taskToken = ctx.getTaskToken().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Вызывает ctx.doNotCompleteOnReturn() и освобождает поток воркера.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• Когда внешняя система готова, она завершает шаг через ActivityCompletionClient.complete(token, result).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НАДЁЖНОСТЬ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10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Распределённые транзакции: Паттерн SAGA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Автоматическое выполнение компенсирующих действий в обратном порядке (LIFO) при сбое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agaCode"/>
          <p:cNvSpPr/>
          <p:nvPr/>
        </p:nvSpPr>
        <p:spPr>
          <a:xfrm>
            <a:off x="476280" y="1476360"/>
            <a:ext cx="5905080" cy="4762080"/>
          </a:xfrm>
          <a:prstGeom prst="roundRect">
            <a:avLst>
              <a:gd name="adj" fmla="val 6000"/>
            </a:avLst>
          </a:prstGeom>
          <a:solidFill>
            <a:srgbClr val="090D16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Saga saga = new Saga(new Saga.Options.Builder()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    .setParallelCompensation(false).build()); // LIFO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try 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  // Шаг 1: Резерв склада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  activities.sagaReserveInventory(id);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1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saga.addCompensation(() -&gt; activities.sagaCompensateInventory(id));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  // Шаг 2: Списание оплаты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  activities.sagaChargePayment(id, budget);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15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saga.addCompensation(() -&gt; activities.sagaRefundPayment(id, budget));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  // Шаг 3: Вызов курьера (падает при simulateFailure=true)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1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activities.sagaDispatchCourier(id, simulateFailure);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} catch (TemporalFailure e) 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200" b="1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  saga.compensate(); // ⏪ Откат: сначала деньги, потом склад!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agaFlow"/>
          <p:cNvSpPr/>
          <p:nvPr/>
        </p:nvSpPr>
        <p:spPr>
          <a:xfrm>
            <a:off x="6667560" y="1476360"/>
            <a:ext cx="504792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FCA5A5"/>
                </a:solidFill>
                <a:effectLst/>
                <a:uFillTx/>
                <a:latin typeface="Segoe UI"/>
                <a:ea typeface="Segoe UI"/>
              </a:rPr>
              <a:t>Как выглядит откат в консоли нашего демо: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1. 📦 [SAGA STEP 1/3 OK] Склад зарезервирован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2. 💳 [SAGA STEP 2/3 OK] Сумма $500.0 списана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ru-RU" sz="1250" b="1" u="none" strike="noStrike">
                <a:solidFill>
                  <a:srgbClr val="F87171"/>
                </a:solidFill>
                <a:effectLst/>
                <a:uFillTx/>
                <a:latin typeface="Segoe UI"/>
                <a:ea typeface="Segoe UI"/>
              </a:rPr>
              <a:t>3. 💥 [SAGA STEP 3/3 FAILED] Свободных курьеров нет!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400" b="1" u="none" strike="noStrike">
                <a:solidFill>
                  <a:srgbClr val="FBBF24"/>
                </a:solidFill>
                <a:effectLst/>
                <a:uFillTx/>
                <a:latin typeface="Segoe UI"/>
                <a:ea typeface="Segoe UI"/>
              </a:rPr>
              <a:t>⚠️ Запуск цепочки компенсаций (LIFO):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FDE68A"/>
                </a:solidFill>
                <a:effectLst/>
                <a:uFillTx/>
                <a:latin typeface="Segoe UI"/>
                <a:ea typeface="Segoe UI"/>
              </a:rPr>
              <a:t>⏪ Компенсация #2: Возврат средств $500.0 клиенту -&gt; OK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ru-RU" sz="1250" b="0" u="none" strike="noStrike">
                <a:solidFill>
                  <a:srgbClr val="FDE68A"/>
                </a:solidFill>
                <a:effectLst/>
                <a:uFillTx/>
                <a:latin typeface="Segoe UI"/>
                <a:ea typeface="Segoe UI"/>
              </a:rPr>
              <a:t>⏪ Компенсация #1: Снятие резерва со склада -&gt; OK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💡 Вызов saga.compensate() оборачивается в DetachedCancellationScope, чтобы откат гарантированно прошёл даже при внешней отмене Workflow.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ПРОДАКШЕН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11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Суперспособности эксплуатации (Day-2 Operations)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Инструменты, ради которых компании переходят на Temporal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OpCard_0"/>
          <p:cNvSpPr/>
          <p:nvPr/>
        </p:nvSpPr>
        <p:spPr>
          <a:xfrm>
            <a:off x="476280" y="147636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🕰️ Workflow Reset («Машина времени»)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Если процесс прошёл 7 шагов за неделю и упал на 8-м из-за бага в коде — выкатите фикс и сделайте Reset к шагу 7. Шаги 1–6 мгновенно подтянутся из истории, а шаг 7 выполнится по новому коду!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OpCard_1"/>
          <p:cNvSpPr/>
          <p:nvPr/>
        </p:nvSpPr>
        <p:spPr>
          <a:xfrm>
            <a:off x="6238800" y="147636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🔀 Безопасный деплой (Versioning)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Workflow.getVersion() и Worker Versioning позволяют обновлять логику на лету, не ломая детерминизм у процессов, которые были запущены месяц назад.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OpCard_2"/>
          <p:cNvSpPr/>
          <p:nvPr/>
        </p:nvSpPr>
        <p:spPr>
          <a:xfrm>
            <a:off x="476280" y="395280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🗓️ Расписания (Temporal Schedules)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Замена классическому Cron: умеет ставить расписание на паузу, дозапускать пропущенные окна (backfill) и защищать от наложения запусков (Overlap Policy: SKIP, BUFFER, CANCEL).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OpCard_3"/>
          <p:cNvSpPr/>
          <p:nvPr/>
        </p:nvSpPr>
        <p:spPr>
          <a:xfrm>
            <a:off x="6238800" y="3952800"/>
            <a:ext cx="5476680" cy="2285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🧪 Time-Skipping Test 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3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Встроенный в SDK тестовый сервер (TestWorkflowEnvironment) автоматически перематывает виртуальные часы вперёд: сценарий с ожиданием в 30 дней проходит в JUnit-тесте за 15 миллисекунд!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opBar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28440" rIns="171360" bIns="28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agBadge"/>
          <p:cNvSpPr/>
          <p:nvPr/>
        </p:nvSpPr>
        <p:spPr>
          <a:xfrm>
            <a:off x="476280" y="247680"/>
            <a:ext cx="2095200" cy="26640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19080" rIns="9540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1" u="none" strike="noStrike">
                <a:solidFill>
                  <a:srgbClr val="C7D2FE"/>
                </a:solidFill>
                <a:effectLst/>
                <a:uFillTx/>
                <a:latin typeface="Segoe UI"/>
                <a:ea typeface="Segoe UI"/>
              </a:rPr>
              <a:t>ДЕМО-ПРОЕКТ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lideNum"/>
          <p:cNvSpPr/>
          <p:nvPr/>
        </p:nvSpPr>
        <p:spPr>
          <a:xfrm>
            <a:off x="10763280" y="247680"/>
            <a:ext cx="952200" cy="266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tIns="19080" rIns="76320" bIns="19080" anchor="ctr">
            <a:noAutofit/>
          </a:bodyPr>
          <a:p>
            <a:pPr algn="ctr">
              <a:lnSpc>
                <a:spcPct val="115000"/>
              </a:lnSpc>
              <a:spcAft>
                <a:spcPts val="601"/>
              </a:spcAft>
            </a:pPr>
            <a:r>
              <a:rPr lang="ru-RU" sz="10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Слайд 12 /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HeaderTitle"/>
          <p:cNvSpPr/>
          <p:nvPr/>
        </p:nvSpPr>
        <p:spPr>
          <a:xfrm>
            <a:off x="476280" y="571680"/>
            <a:ext cx="11239200" cy="742680"/>
          </a:xfrm>
          <a:prstGeom prst="roundRect">
            <a:avLst>
              <a:gd name="adj" fmla="val 600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Песочница примитивов в нашем проекте (temporal-spring-demo)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Java 25 • Spring Boot 4.1.1 • Temporal SDK 1.40.0 • Все 5 тест-сьютов проходят (mvn test)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EndpointsBox"/>
          <p:cNvSpPr/>
          <p:nvPr/>
        </p:nvSpPr>
        <p:spPr>
          <a:xfrm>
            <a:off x="476280" y="1476360"/>
            <a:ext cx="6190920" cy="4762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818CF8"/>
                </a:solidFill>
                <a:effectLst/>
                <a:uFillTx/>
                <a:latin typeface="Segoe UI"/>
                <a:ea typeface="Segoe UI"/>
              </a:rPr>
              <a:t>🌐 REST API песочницы (/api/showcase):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300" b="1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• POST /api/showcase/full-run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  Запускает комбо из всех 8 этапов (Local Activity, Timer/Await, Retries, Race, ChildWorkflow + Heartbeat, Saga).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300" b="1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• POST /api/showcase/demos/saga-rollback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  Демонстрация сбоя на 3-м шаге и LIFO-компенсаций Saga.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300" b="1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• POST /api/showcase/demos/retries?failures=3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  Демонстрация экспоненциального backoff и NonRetryable (failures=-1).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300" b="1" u="none" strike="noStrike">
                <a:solidFill>
                  <a:srgbClr val="6EE7B7"/>
                </a:solidFill>
                <a:effectLst/>
                <a:uFillTx/>
                <a:latin typeface="Consolas"/>
                <a:ea typeface="Consolas"/>
              </a:rPr>
              <a:t>• POST /api/showcase/demos/async-callback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ru-RU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  Ожидание внешнего завершения по TaskToken (/complete-async).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• Живое управление: /{id}/state, /{id}/update-budget, /{id}/signal-approve, /schedules/{id}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unBox"/>
          <p:cNvSpPr/>
          <p:nvPr/>
        </p:nvSpPr>
        <p:spPr>
          <a:xfrm>
            <a:off x="6905520" y="1476360"/>
            <a:ext cx="4809600" cy="4762080"/>
          </a:xfrm>
          <a:prstGeom prst="roundRect">
            <a:avLst>
              <a:gd name="adj" fmla="val 6000"/>
            </a:avLst>
          </a:prstGeom>
          <a:solidFill>
            <a:srgbClr val="090D16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1360" tIns="133200" rIns="171360" bIns="133200" anchor="t">
            <a:noAutofit/>
          </a:bodyPr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600" b="1" u="none" strike="noStrike">
                <a:solidFill>
                  <a:srgbClr val="6EE7B7"/>
                </a:solidFill>
                <a:effectLst/>
                <a:uFillTx/>
                <a:latin typeface="Segoe UI"/>
                <a:ea typeface="Segoe UI"/>
              </a:rPr>
              <a:t>🚀 Быстрый старт: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1. Поднять Docker (Postgres + Temporal + UI)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5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docker compose up -d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2. Запустить приложение (порт 8081)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ru-RU" sz="125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mvn spring-boot:run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ru-RU" sz="115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3. Запустить тесты без Docker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</a:pPr>
            <a:r>
              <a:rPr lang="ru-RU" sz="125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mvn test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38BDF8"/>
                </a:solidFill>
                <a:effectLst/>
                <a:uFillTx/>
                <a:latin typeface="Segoe UI"/>
                <a:ea typeface="Segoe UI"/>
              </a:rPr>
              <a:t>🔗 Полезные адреса: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Temporal Web UI: http://localhost:8080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Приложение API: http://localhost:8081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ru-RU" sz="1250" b="0" u="none" strike="noStrike">
                <a:solidFill>
                  <a:srgbClr val="E2E8F0"/>
                </a:solidFill>
                <a:effectLst/>
                <a:uFillTx/>
                <a:latin typeface="Segoe UI"/>
                <a:ea typeface="Segoe UI"/>
              </a:rPr>
              <a:t>• Документация: README.md в корне проекта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poralDarkTheme">
  <a:themeElements>
    <a:clrScheme name="Temporal">
      <a:dk1>
        <a:srgbClr val="0F172A"/>
      </a:dk1>
      <a:lt1>
        <a:srgbClr val="F8FAFC"/>
      </a:lt1>
      <a:dk2>
        <a:srgbClr val="1E293B"/>
      </a:dk2>
      <a:lt2>
        <a:srgbClr val="CBD5E1"/>
      </a:lt2>
      <a:accent1>
        <a:srgbClr val="6366F1"/>
      </a:accent1>
      <a:accent2>
        <a:srgbClr val="38BDF8"/>
      </a:accent2>
      <a:accent3>
        <a:srgbClr val="10B981"/>
      </a:accent3>
      <a:accent4>
        <a:srgbClr val="F59E0B"/>
      </a:accent4>
      <a:accent5>
        <a:srgbClr val="EF4444"/>
      </a:accent5>
      <a:accent6>
        <a:srgbClr val="A855F7"/>
      </a:accent6>
      <a:hlink>
        <a:srgbClr val="38BDF8"/>
      </a:hlink>
      <a:folHlink>
        <a:srgbClr val="818CF8"/>
      </a:folHlink>
    </a:clrScheme>
    <a:fontScheme name="TemporalFonts">
      <a:majorFont>
        <a:latin typeface="Segoe UI" pitchFamily="0" charset="1"/>
        <a:ea typeface="Segoe UI" pitchFamily="0" charset="1"/>
        <a:cs typeface="Segoe UI" pitchFamily="0" charset="1"/>
      </a:majorFont>
      <a:minorFont>
        <a:latin typeface="Segoe UI" pitchFamily="0" charset="1"/>
        <a:ea typeface="Segoe UI" pitchFamily="0" charset="1"/>
        <a:cs typeface="Segoe UI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/>
        <a:ln w="12700"/>
        <a:ln w="1270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3831</TotalTime>
  <Application>LibreOffice/26.8.1.1$Linux_X86_64 LibreOffice_project/0fee9b7af4ed8823fb6ed0b53e2a3e73b2087f4b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2026-10-28T23:14:05Z</dcterms:modified>
  <cp:revision>1</cp:revision>
  <dc:subject/>
  <dc:title/>
</cp:coreProperties>
</file>